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34495" y="0"/>
            <a:ext cx="45720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1734495" cy="36576"/>
          </a:xfrm>
          <a:prstGeom prst="rect">
            <a:avLst/>
          </a:prstGeom>
          <a:solidFill>
            <a:srgbClr val="3D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C9A961"/>
                </a:solidFill>
                <a:latin typeface="Calibri"/>
              </a:rPr>
              <a:t>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7F5F0"/>
                </a:solidFill>
                <a:latin typeface="Calibri"/>
              </a:rPr>
              <a:t>PROVIDER REAL ESTATE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Calibri"/>
              </a:rPr>
              <a:t>INVESTMENT COMMITTEE MEMORANDUM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{{property_name}}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F7F5F0"/>
                </a:solidFill>
                <a:latin typeface="Calibri"/>
              </a:rPr>
              <a:t>{{property_city}}, {{property_state}}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9A961"/>
                </a:solidFill>
                <a:latin typeface="Calibri"/>
              </a:rPr>
              <a:t>PREPARED BY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{{prepared_by}}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486400"/>
            <a:ext cx="4114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9A961"/>
                </a:solidFill>
                <a:latin typeface="Calibri"/>
              </a:rPr>
              <a:t>IC MEETING DATE</a:t>
            </a:r>
          </a:p>
          <a:p>
            <a:pPr algn="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{{ic_meeting_date}}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D6E8F"/>
                </a:solidFill>
                <a:latin typeface="Calibri"/>
              </a:rPr>
              <a:t>Recommendation, key terms, and the case for capital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29200" cy="4206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" cy="4206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9A961"/>
                </a:solidFill>
                <a:latin typeface="Calibri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4572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{{recommendation}}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457200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THESIS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7F5F0"/>
                </a:solidFill>
                <a:latin typeface="Calibri"/>
              </a:rPr>
              <a:t>{{investment_thesis}}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KEY TERMS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28600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3774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PURCHASE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5176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{{purchase_price}}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28600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3774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GOING-IN 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65176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{{going_in_cap_rate}}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56616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65760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PROJECTED IRR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93192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{{projected_irr}}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356616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365760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EQUITY MULTIPLE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93192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{{equity_multiple}}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846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93776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HOLD PERIOD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21208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{{hold_period}}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4846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493776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LOAN-TO-COST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521208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365D"/>
                </a:solidFill>
                <a:latin typeface="Calibri"/>
              </a:rPr>
              <a:t>{{loan_to_cost}}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836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7F5F0"/>
                </a:solidFill>
                <a:latin typeface="Calibri"/>
              </a:rPr>
              <a:t>PREP  |  PROVIDER REAL ESTATE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58368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F7F5F0"/>
                </a:solidFill>
                <a:latin typeface="Calibri"/>
              </a:rPr>
              <a:t>EXECUTIVE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583680"/>
            <a:ext cx="1280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5F0"/>
                </a:solidFill>
                <a:latin typeface="Calibr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16459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1">
                <a:solidFill>
                  <a:srgbClr val="6B7380"/>
                </a:solidFill>
                <a:latin typeface="Calibri"/>
              </a:rPr>
              <a:t>CONFIDENTIAL — INVESTMENT COMMITTEE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Investment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D6E8F"/>
                </a:solidFill>
                <a:latin typeface="Calibri"/>
              </a:rPr>
              <a:t>Why this deal fits PREP's medical outpatient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661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C9A9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4884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B365D"/>
                </a:solidFill>
                <a:latin typeface="Calibri"/>
              </a:rPr>
              <a:t>MARKET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01752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{{thesis_market_position}}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828800"/>
            <a:ext cx="35661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59" y="2011680"/>
            <a:ext cx="640080" cy="64008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10312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C9A961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39" y="214884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B365D"/>
                </a:solidFill>
                <a:latin typeface="Calibri"/>
              </a:rPr>
              <a:t>ASSET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108960"/>
            <a:ext cx="301752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{{thesis_asset_quality}}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5661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8" y="2011680"/>
            <a:ext cx="640080" cy="64008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8" y="210312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C9A961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78" y="214884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B365D"/>
                </a:solidFill>
                <a:latin typeface="Calibri"/>
              </a:rPr>
              <a:t>RETURN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3108960"/>
            <a:ext cx="301752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{{thesis_return_profile}}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836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7F5F0"/>
                </a:solidFill>
                <a:latin typeface="Calibri"/>
              </a:rPr>
              <a:t>PREP  |  PROVIDER REAL ESTATE PARTNERS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58368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F7F5F0"/>
                </a:solidFill>
                <a:latin typeface="Calibri"/>
              </a:rPr>
              <a:t>INVESTMENT 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83680"/>
            <a:ext cx="1280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5F0"/>
                </a:solidFill>
                <a:latin typeface="Calibri"/>
              </a:rPr>
              <a:t>3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16459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1">
                <a:solidFill>
                  <a:srgbClr val="6B7380"/>
                </a:solidFill>
                <a:latin typeface="Calibri"/>
              </a:rPr>
              <a:t>CONFIDENTIAL — INVESTMENT COMMITTEE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Property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D6E8F"/>
                </a:solidFill>
                <a:latin typeface="Calibri"/>
              </a:rPr>
              <a:t>Physical asset, location, and tenant 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solidFill>
            <a:srgbClr val="F2C84B"/>
          </a:solidFill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1">
                <a:solidFill>
                  <a:srgbClr val="2C2C2C"/>
                </a:solidFill>
                <a:latin typeface="Calibri"/>
              </a:rPr>
              <a:t>TODO: property_photo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ASSET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286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{{property_address}}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852928"/>
            <a:ext cx="5943600" cy="8000"/>
          </a:xfrm>
          <a:prstGeom prst="rect">
            <a:avLst/>
          </a:prstGeom>
          <a:solidFill>
            <a:srgbClr val="3D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8803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YEAR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8803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{{year_built}}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447288"/>
            <a:ext cx="5943600" cy="8000"/>
          </a:xfrm>
          <a:prstGeom prst="rect">
            <a:avLst/>
          </a:prstGeom>
          <a:solidFill>
            <a:srgbClr val="3D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4747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RENTABLE SF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4747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{{rentable_sf}}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041648"/>
            <a:ext cx="5943600" cy="8000"/>
          </a:xfrm>
          <a:prstGeom prst="rect">
            <a:avLst/>
          </a:prstGeom>
          <a:solidFill>
            <a:srgbClr val="3D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0690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OCCUPANCY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069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{{occupancy_pct}}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636008"/>
            <a:ext cx="5943600" cy="8000"/>
          </a:xfrm>
          <a:prstGeom prst="rect">
            <a:avLst/>
          </a:prstGeom>
          <a:solidFill>
            <a:srgbClr val="3D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6634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WALT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6634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{{walt_years}} yrs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230368"/>
            <a:ext cx="5943600" cy="8000"/>
          </a:xfrm>
          <a:prstGeom prst="rect">
            <a:avLst/>
          </a:prstGeom>
          <a:solidFill>
            <a:srgbClr val="3D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5257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HOSPITAL AFFILIATION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2578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{{hospital_affiliation}}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836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7F5F0"/>
                </a:solidFill>
                <a:latin typeface="Calibri"/>
              </a:rPr>
              <a:t>PREP  |  PROVIDER REAL ESTATE PARTNERS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58368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F7F5F0"/>
                </a:solidFill>
                <a:latin typeface="Calibri"/>
              </a:rPr>
              <a:t>PROPERTY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6583680"/>
            <a:ext cx="1280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5F0"/>
                </a:solidFill>
                <a:latin typeface="Calibri"/>
              </a:rPr>
              <a:t>4 /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16459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1">
                <a:solidFill>
                  <a:srgbClr val="6B7380"/>
                </a:solidFill>
                <a:latin typeface="Calibri"/>
              </a:rPr>
              <a:t>CONFIDENTIAL — INVESTMENT COMMITTEE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D6E8F"/>
                </a:solidFill>
                <a:latin typeface="Calibri"/>
              </a:rPr>
              <a:t>Demographics, demand drivers, and the medical outpatient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66160" cy="173736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661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9A961"/>
                </a:solidFill>
                <a:latin typeface="Calibri"/>
              </a:rPr>
              <a:t>5-MILE POPULATION GROWTH (5-YR)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{{population_growth}}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828800"/>
            <a:ext cx="3566160" cy="173736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828800"/>
            <a:ext cx="35661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9A961"/>
                </a:solidFill>
                <a:latin typeface="Calibri"/>
              </a:rPr>
              <a:t>POPULATION AGED 65+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51460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{{senior_population}}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8" y="1828800"/>
            <a:ext cx="3566160" cy="173736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8" y="1828800"/>
            <a:ext cx="35661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8" y="20116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9A961"/>
                </a:solidFill>
                <a:latin typeface="Calibri"/>
              </a:rPr>
              <a:t>HEALTHCARE EMPLOYMENT (MSA)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8" y="251460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{{healthcare_employment}}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DEMAND DRIVERS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1097280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Calibri"/>
              </a:rPr>
              <a:t>{{market_narrative}}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836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7F5F0"/>
                </a:solidFill>
                <a:latin typeface="Calibri"/>
              </a:rPr>
              <a:t>PREP  |  PROVIDER REAL ESTATE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58368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F7F5F0"/>
                </a:solidFill>
                <a:latin typeface="Calibri"/>
              </a:rPr>
              <a:t>MARKET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583680"/>
            <a:ext cx="1280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5F0"/>
                </a:solidFill>
                <a:latin typeface="Calibri"/>
              </a:rPr>
              <a:t>5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16459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1">
                <a:solidFill>
                  <a:srgbClr val="6B7380"/>
                </a:solidFill>
                <a:latin typeface="Calibri"/>
              </a:rPr>
              <a:t>CONFIDENTIAL — INVESTMENT COMMITTEE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Financial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D6E8F"/>
                </a:solidFill>
                <a:latin typeface="Calibri"/>
              </a:rPr>
              <a:t>Sources, uses, and projected return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SOURCES &amp; 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860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Senior Debt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06040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1B365D"/>
                </a:solidFill>
                <a:latin typeface="Calibri"/>
              </a:rPr>
              <a:t>{{senior_debt}}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5486400" cy="41148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Sponsor Equity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017520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1B365D"/>
                </a:solidFill>
                <a:latin typeface="Calibri"/>
              </a:rPr>
              <a:t>{{sponsor_equity}}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LP Equity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429000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1B365D"/>
                </a:solidFill>
                <a:latin typeface="Calibri"/>
              </a:rPr>
              <a:t>{{lp_equity}}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5486400" cy="41148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Calibri"/>
              </a:rPr>
              <a:t>Total Capitalization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840480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1B365D"/>
                </a:solidFill>
                <a:latin typeface="Calibri"/>
              </a:rPr>
              <a:t>{{total_cap}}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RETURN PROFILE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28600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2286000"/>
            <a:ext cx="269748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46888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7380"/>
                </a:solidFill>
                <a:latin typeface="Calibri"/>
              </a:rPr>
              <a:t>LEVERED IRR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92608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{{levered_irr}}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28600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18320" y="2286000"/>
            <a:ext cx="269748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46888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7380"/>
                </a:solidFill>
                <a:latin typeface="Calibri"/>
              </a:rPr>
              <a:t>UNLEVERED IRR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92608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{{unlevered_irr}}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11480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4114800"/>
            <a:ext cx="269748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429768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7380"/>
                </a:solidFill>
                <a:latin typeface="Calibri"/>
              </a:rPr>
              <a:t>EQUITY MULTIPLE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75488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{{equity_multiple_2}}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411480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0" y="4114800"/>
            <a:ext cx="269748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429768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7380"/>
                </a:solidFill>
                <a:latin typeface="Calibri"/>
              </a:rPr>
              <a:t>CASH-ON-CASH (YR 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75488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{{cash_on_cash}}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836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7F5F0"/>
                </a:solidFill>
                <a:latin typeface="Calibri"/>
              </a:rPr>
              <a:t>PREP  |  PROVIDER REAL ESTATE PARTNERS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58368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F7F5F0"/>
                </a:solidFill>
                <a:latin typeface="Calibri"/>
              </a:rPr>
              <a:t>FINANCIAL HIGHLIGHTS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583680"/>
            <a:ext cx="1280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5F0"/>
                </a:solidFill>
                <a:latin typeface="Calibri"/>
              </a:rPr>
              <a:t>6 /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16459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1">
                <a:solidFill>
                  <a:srgbClr val="6B7380"/>
                </a:solidFill>
                <a:latin typeface="Calibri"/>
              </a:rPr>
              <a:t>CONFIDENTIAL — INVESTMENT COMMITTEE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Cap Rate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D6E8F"/>
                </a:solidFill>
                <a:latin typeface="Calibri"/>
              </a:rPr>
              <a:t>Going-in vs. exit, sensitivity, and comp benchmarking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ENTRY → EXIT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377440" cy="18288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Calibri"/>
              </a:rPr>
              <a:t>GOING-IN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23774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{{going_in_cap}}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F7F5F0"/>
                </a:solidFill>
                <a:latin typeface="Calibri"/>
              </a:rPr>
              <a:t>Year 1 NOI / Price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3108960"/>
            <a:ext cx="640080" cy="411480"/>
          </a:xfrm>
          <a:prstGeom prst="rightArrow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377440"/>
            <a:ext cx="2377440" cy="1828800"/>
          </a:xfrm>
          <a:prstGeom prst="rect">
            <a:avLst/>
          </a:prstGeom>
          <a:solidFill>
            <a:srgbClr val="3D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Calibri"/>
              </a:rPr>
              <a:t>EXIT (YR {{hold_period_yrs}})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80360"/>
            <a:ext cx="23774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{{exit_cap}}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94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F7F5F0"/>
                </a:solidFill>
                <a:latin typeface="Calibri"/>
              </a:rPr>
              <a:t>Stabilized NOI / Sale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7380"/>
                </a:solidFill>
                <a:latin typeface="Calibri"/>
              </a:rPr>
              <a:t>CAP RATE 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Calibri"/>
              </a:rPr>
              <a:t>{{cap_rate_compression_bps}} bps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IRR SENSITIVITY (EXIT CAP × NOI GROWTH)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377440"/>
            <a:ext cx="5486400" cy="3383280"/>
          </a:xfrm>
          <a:prstGeom prst="rect">
            <a:avLst/>
          </a:prstGeom>
          <a:solidFill>
            <a:srgbClr val="F2C84B"/>
          </a:solidFill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5486400" cy="3383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1">
                <a:solidFill>
                  <a:srgbClr val="2C2C2C"/>
                </a:solidFill>
                <a:latin typeface="Calibri"/>
              </a:rPr>
              <a:t>TODO: sensitivity_matrix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836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7F5F0"/>
                </a:solidFill>
                <a:latin typeface="Calibri"/>
              </a:rPr>
              <a:t>PREP  |  PROVIDER REAL ESTATE PARTNERS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58368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F7F5F0"/>
                </a:solidFill>
                <a:latin typeface="Calibri"/>
              </a:rPr>
              <a:t>CAP RATE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83680"/>
            <a:ext cx="1280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5F0"/>
                </a:solidFill>
                <a:latin typeface="Calibri"/>
              </a:rPr>
              <a:t>7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16459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1">
                <a:solidFill>
                  <a:srgbClr val="6B7380"/>
                </a:solidFill>
                <a:latin typeface="Calibri"/>
              </a:rPr>
              <a:t>CONFIDENTIAL — INVESTMENT COMMITTEE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Lease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D6E8F"/>
                </a:solidFill>
                <a:latin typeface="Calibri"/>
              </a:rPr>
              <a:t>In-place terms, rollover schedule, and ProREP standard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ROLLOVER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486400" cy="2286000"/>
          </a:xfrm>
          <a:prstGeom prst="rect">
            <a:avLst/>
          </a:prstGeom>
          <a:solidFill>
            <a:srgbClr val="F2C84B"/>
          </a:solidFill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1">
                <a:solidFill>
                  <a:srgbClr val="2C2C2C"/>
                </a:solidFill>
                <a:latin typeface="Calibri"/>
              </a:rPr>
              <a:t>TODO: rollover_schedule_chart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1783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WALT (YRS)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600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Calibri"/>
              </a:rPr>
              <a:t>{{walt}}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59" y="4754880"/>
            <a:ext cx="1783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599" y="484632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AVG ESCALATIONS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5120640"/>
            <a:ext cx="1600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Calibri"/>
              </a:rPr>
              <a:t>{{avg_escalations}}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8" y="4754880"/>
            <a:ext cx="1783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8" y="484632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CREDIT TENANT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8" y="5120640"/>
            <a:ext cx="1600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B365D"/>
                </a:solidFill>
                <a:latin typeface="Calibri"/>
              </a:rPr>
              <a:t>{{credit_tenant_pct}}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828800"/>
            <a:ext cx="5486400" cy="393192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828800"/>
            <a:ext cx="54864" cy="39319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1965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9A961"/>
                </a:solidFill>
                <a:latin typeface="Calibri"/>
              </a:rPr>
              <a:t>PROREP STANDARD §4 — OPERATING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28600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F7F5F0"/>
                </a:solidFill>
                <a:latin typeface="Calibri"/>
              </a:rPr>
              <a:t>(verbatim — must not paraphrase)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697480"/>
            <a:ext cx="5029200" cy="3017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7F5F0"/>
                </a:solidFill>
                <a:latin typeface="Calibri"/>
              </a:rPr>
              <a:t>{{prorep_section_4_verbatim}}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836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7F5F0"/>
                </a:solidFill>
                <a:latin typeface="Calibri"/>
              </a:rPr>
              <a:t>PREP  |  PROVIDER REAL ESTATE PARTNERS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58368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F7F5F0"/>
                </a:solidFill>
                <a:latin typeface="Calibri"/>
              </a:rPr>
              <a:t>LEASE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583680"/>
            <a:ext cx="1280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5F0"/>
                </a:solidFill>
                <a:latin typeface="Calibri"/>
              </a:rPr>
              <a:t>8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6459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1">
                <a:solidFill>
                  <a:srgbClr val="6B7380"/>
                </a:solidFill>
                <a:latin typeface="Calibri"/>
              </a:rPr>
              <a:t>CONFIDENTIAL — INVESTMENT COMMITTEE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Rent Roll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D6E8F"/>
                </a:solidFill>
                <a:latin typeface="Calibri"/>
              </a:rPr>
              <a:t>Top tenants, lease terms, and contribution to NOI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874519"/>
            <a:ext cx="1234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874519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LEASE EXPIRY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874519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BASE 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74519"/>
            <a:ext cx="1234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% OF NOI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1874519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CREDIT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{{tenant_1_name}}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33172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{{tenant_1_sf}}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331720"/>
            <a:ext cx="1691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{{tenant_1_expiry}}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33172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{{tenant_1_rent}}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33172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{{tenant_1_pct}}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331720"/>
            <a:ext cx="1600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{{tenant_1_credit}}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34640"/>
            <a:ext cx="11064240" cy="5029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3464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{{tenant_2_name}}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83464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{{tenant_2_sf}}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834640"/>
            <a:ext cx="1691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{{tenant_2_expiry}}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83464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{{tenant_2_rent}}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83464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{{tenant_2_pct}}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834640"/>
            <a:ext cx="1600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{{tenant_2_credit}}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33756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33756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{{tenant_3_name}}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33756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{{tenant_3_sf}}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3337560"/>
            <a:ext cx="1691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{{tenant_3_expiry}}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33756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{{tenant_3_rent}}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33756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{{tenant_3_pct}}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337560"/>
            <a:ext cx="1600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{{tenant_3_credit}}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40480"/>
            <a:ext cx="11064240" cy="5029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84048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{{tenant_4_name}}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84048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{{tenant_4_sf}}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3840480"/>
            <a:ext cx="1691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{{tenant_4_expiry}}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84048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{{tenant_4_rent}}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84048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{{tenant_4_pct}}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3840480"/>
            <a:ext cx="1600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{{tenant_4_credit}}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34340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34340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{{tenant_5_name}}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434340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{{tenant_5_sf}}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4343400"/>
            <a:ext cx="1691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{{tenant_5_expiry}}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34340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{{tenant_5_rent}}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434340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{{tenant_5_pct}}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4343400"/>
            <a:ext cx="1600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{{tenant_5_credit}}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846320"/>
            <a:ext cx="11064240" cy="5029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84632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{{tenant_6_name}}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6200" y="484632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{{tenant_6_sf}}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846320"/>
            <a:ext cx="1691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{{tenant_6_expiry}}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4846320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{{tenant_6_rent}}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4846320"/>
            <a:ext cx="1234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{{tenant_6_pct}}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4846320"/>
            <a:ext cx="1600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{{tenant_6_credit}}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65836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7F5F0"/>
                </a:solidFill>
                <a:latin typeface="Calibri"/>
              </a:rPr>
              <a:t>PREP  |  PROVIDER REAL ESTATE PARTNERS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58368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F7F5F0"/>
                </a:solidFill>
                <a:latin typeface="Calibri"/>
              </a:rPr>
              <a:t>RENT ROLL SUMMARY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62895" y="6583680"/>
            <a:ext cx="1280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5F0"/>
                </a:solidFill>
                <a:latin typeface="Calibri"/>
              </a:rPr>
              <a:t>9 /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16459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1">
                <a:solidFill>
                  <a:srgbClr val="6B7380"/>
                </a:solidFill>
                <a:latin typeface="Calibri"/>
              </a:rPr>
              <a:t>CONFIDENTIAL — INVESTMENT COMMITTEE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Comparable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D6E8F"/>
                </a:solidFill>
                <a:latin typeface="Calibri"/>
              </a:rPr>
              <a:t>Recent MOB transactions in the submarket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874519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874519"/>
            <a:ext cx="1143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874519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874519"/>
            <a:ext cx="1143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$/SF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1874519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CAP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3063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{{comp_1_property}}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331720"/>
            <a:ext cx="1691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{{comp_1_city}}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331720"/>
            <a:ext cx="1143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{{comp_1_date}}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331720"/>
            <a:ext cx="1417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{{comp_1_price}}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331720"/>
            <a:ext cx="1143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{{comp_1_psf}}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331720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{{comp_1_cap}}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80360"/>
            <a:ext cx="11064240" cy="54864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3063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{{comp_2_property}}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880360"/>
            <a:ext cx="1691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{{comp_2_city}}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880360"/>
            <a:ext cx="1143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{{comp_2_date}}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880360"/>
            <a:ext cx="1417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{{comp_2_price}}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880360"/>
            <a:ext cx="1143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{{comp_2_psf}}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80360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{{comp_2_cap}}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2900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429000"/>
            <a:ext cx="3063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{{comp_3_property}}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429000"/>
            <a:ext cx="1691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{{comp_3_city}}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429000"/>
            <a:ext cx="1143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{{comp_3_date}}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429000"/>
            <a:ext cx="1417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{{comp_3_price}}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429000"/>
            <a:ext cx="1143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{{comp_3_psf}}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429000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{{comp_3_cap}}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977640"/>
            <a:ext cx="3063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{{comp_4_property}}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977640"/>
            <a:ext cx="1691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{{comp_4_city}}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3977640"/>
            <a:ext cx="1143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{{comp_4_date}}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977640"/>
            <a:ext cx="1417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{{comp_4_price}}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977640"/>
            <a:ext cx="1143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{{comp_4_psf}}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977640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{{comp_4_cap}}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526280"/>
            <a:ext cx="3063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{{comp_5_property}}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4526280"/>
            <a:ext cx="1691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{{comp_5_city}}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4526280"/>
            <a:ext cx="1143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{{comp_5_date}}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526280"/>
            <a:ext cx="1417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{{comp_5_price}}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526280"/>
            <a:ext cx="1143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{{comp_5_psf}}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4526280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{{comp_5_cap}}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12064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{{property_name}} (subject)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6200" y="512064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{{property_city}}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512064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1">
                <a:solidFill>
                  <a:srgbClr val="1B365D"/>
                </a:solidFill>
                <a:latin typeface="Calibri"/>
              </a:rPr>
              <a:t>Pending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12064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{{purchase_price_short}}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5120640"/>
            <a:ext cx="1280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{{subject_psf}}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51206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B365D"/>
                </a:solidFill>
                <a:latin typeface="Calibri"/>
              </a:rPr>
              <a:t>{{going_in_cap}}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65836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7F5F0"/>
                </a:solidFill>
                <a:latin typeface="Calibri"/>
              </a:rPr>
              <a:t>PREP  |  PROVIDER REAL ESTATE PARTNERS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58368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F7F5F0"/>
                </a:solidFill>
                <a:latin typeface="Calibri"/>
              </a:rPr>
              <a:t>COMPARABLE SALES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62895" y="6583680"/>
            <a:ext cx="1280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5F0"/>
                </a:solidFill>
                <a:latin typeface="Calibri"/>
              </a:rPr>
              <a:t>10 /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16459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1">
                <a:solidFill>
                  <a:srgbClr val="6B7380"/>
                </a:solidFill>
                <a:latin typeface="Calibri"/>
              </a:rPr>
              <a:t>CONFIDENTIAL — INVESTMENT COMMITTEE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D6E8F"/>
                </a:solidFill>
                <a:latin typeface="Calibri"/>
              </a:rPr>
              <a:t>Identified risks, severity, and mitigants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03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" cy="914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Tenant concentration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89320" y="2194560"/>
            <a:ext cx="320040" cy="182880"/>
          </a:xfrm>
          <a:prstGeom prst="rightArrow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212080" cy="9144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C9A961"/>
                </a:solidFill>
                <a:latin typeface="Calibri"/>
              </a:rPr>
              <a:t>MITIGANT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7627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7F5F0"/>
                </a:solidFill>
                <a:latin typeface="Calibri"/>
              </a:rPr>
              <a:t>{{risk_tenant_concentration}}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5303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80360"/>
            <a:ext cx="73152" cy="914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2783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Lease rollover (Yr 3-5)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89320" y="3246120"/>
            <a:ext cx="320040" cy="182880"/>
          </a:xfrm>
          <a:prstGeom prst="rightArrow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880360"/>
            <a:ext cx="5212080" cy="9144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97180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C9A961"/>
                </a:solidFill>
                <a:latin typeface="Calibri"/>
              </a:rPr>
              <a:t>MITIGANT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2783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7F5F0"/>
                </a:solidFill>
                <a:latin typeface="Calibri"/>
              </a:rPr>
              <a:t>{{risk_lease_rollover}}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5303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23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7939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Cap rate expansion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89320" y="4297680"/>
            <a:ext cx="320040" cy="182880"/>
          </a:xfrm>
          <a:prstGeom prst="rightArrow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931920"/>
            <a:ext cx="5212080" cy="9144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023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C9A961"/>
                </a:solidFill>
                <a:latin typeface="Calibri"/>
              </a:rPr>
              <a:t>MITIGANT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7939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7F5F0"/>
                </a:solidFill>
                <a:latin typeface="Calibri"/>
              </a:rPr>
              <a:t>{{risk_cap_rate}}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83480"/>
            <a:ext cx="5303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3D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983480"/>
            <a:ext cx="73152" cy="914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7492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380"/>
                </a:solidFill>
                <a:latin typeface="Calibri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3095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65D"/>
                </a:solidFill>
                <a:latin typeface="Calibri"/>
              </a:rPr>
              <a:t>Healthcare reimbursement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989320" y="5349240"/>
            <a:ext cx="320040" cy="182880"/>
          </a:xfrm>
          <a:prstGeom prst="rightArrow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983480"/>
            <a:ext cx="5212080" cy="9144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C9A961"/>
                </a:solidFill>
                <a:latin typeface="Calibri"/>
              </a:rPr>
              <a:t>MITIGANT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33095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7F5F0"/>
                </a:solidFill>
                <a:latin typeface="Calibri"/>
              </a:rPr>
              <a:t>{{risk_reimbursement}}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836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7F5F0"/>
                </a:solidFill>
                <a:latin typeface="Calibri"/>
              </a:rPr>
              <a:t>PREP  |  PROVIDER REAL ESTATE PARTNERS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58368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F7F5F0"/>
                </a:solidFill>
                <a:latin typeface="Calibri"/>
              </a:rPr>
              <a:t>RISK REGISTER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2895" y="6583680"/>
            <a:ext cx="1280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5F0"/>
                </a:solidFill>
                <a:latin typeface="Calibri"/>
              </a:rPr>
              <a:t>11 /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16459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1">
                <a:solidFill>
                  <a:srgbClr val="6B7380"/>
                </a:solidFill>
                <a:latin typeface="Calibri"/>
              </a:rPr>
              <a:t>CONFIDENTIAL — INVESTMENT COMMITTEE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34495" y="0"/>
            <a:ext cx="45720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{{recommendation_headline}}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1051560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9A961"/>
                </a:solidFill>
                <a:latin typeface="Calibri"/>
              </a:rPr>
              <a:t>IC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{{ic_ask}}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9A961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7F5F0"/>
                </a:solidFill>
                <a:latin typeface="Calibri"/>
              </a:rPr>
              <a:t>{{next_steps}}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550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1">
                <a:solidFill>
                  <a:srgbClr val="C9A961"/>
                </a:solidFill>
                <a:latin typeface="Calibri"/>
              </a:rPr>
              <a:t>PREP  |  PROVIDER REAL ESTATE PARTNERS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